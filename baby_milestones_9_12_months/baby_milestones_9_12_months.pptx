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Baby milestones: 9 to 12 months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quick, parent-friendly view of the big changes often seen in late infancy.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babies are becoming more mobile, more interactive, and more intentional with their hands during this stretch.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2743200"/>
            <a:ext cx="1051560" cy="347472"/>
          </a:xfrm>
          <a:prstGeom prst="roundRect">
            <a:avLst>
              <a:gd name="adj" fmla="val 47368"/>
            </a:avLst>
          </a:prstGeom>
          <a:solidFill>
            <a:srgbClr val="DCEFE6"/>
          </a:solidFill>
          <a:ln>
            <a:solidFill>
              <a:srgbClr val="DCEFE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01368" y="274320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F7E2D2"/>
          </a:solidFill>
          <a:ln>
            <a:solidFill>
              <a:srgbClr val="F7E2D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Pincer grasp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46120" y="2743200"/>
            <a:ext cx="1207008" cy="347472"/>
          </a:xfrm>
          <a:prstGeom prst="roundRect">
            <a:avLst>
              <a:gd name="adj" fmla="val 47368"/>
            </a:avLst>
          </a:prstGeom>
          <a:solidFill>
            <a:srgbClr val="F2C46D"/>
          </a:solidFill>
          <a:ln>
            <a:solidFill>
              <a:srgbClr val="F2C46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words</a:t>
            </a:r>
            <a:endParaRPr lang="en-US" sz="1000" dirty="0"/>
          </a:p>
        </p:txBody>
      </p:sp>
      <p:pic>
        <p:nvPicPr>
          <p:cNvPr id="8" name="Image 0" descr="C:\Users\Oskar\Documents\AI_dev4\AI_devs4_solutions\baby_milestones_9_12_months\assets\timeline_journe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843960"/>
            <a:ext cx="4709160" cy="22348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154680"/>
            <a:ext cx="1691640" cy="1993392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4672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3639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around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" y="405079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sit without support, crawl, or scoot to reach people and toys.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505456" y="3154680"/>
            <a:ext cx="1691640" cy="1993392"/>
          </a:xfrm>
          <a:prstGeom prst="roundRect">
            <a:avLst>
              <a:gd name="adj" fmla="val 7568"/>
            </a:avLst>
          </a:prstGeom>
          <a:solidFill>
            <a:srgbClr val="F8D9D3"/>
          </a:solidFill>
          <a:ln>
            <a:solidFill>
              <a:srgbClr val="F8D9D3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65176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51760" y="3639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up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651760" y="405079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shifts from floor play to kneeling or standing while holding on.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52544" y="3154680"/>
            <a:ext cx="1691640" cy="1993392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498848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98848" y="3639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Cruises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498848" y="405079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sideways along furniture and uses fingers more precisely.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99632" y="3154680"/>
            <a:ext cx="1691640" cy="1993392"/>
          </a:xfrm>
          <a:prstGeom prst="roundRect">
            <a:avLst>
              <a:gd name="adj" fmla="val 7568"/>
            </a:avLst>
          </a:prstGeom>
          <a:solidFill>
            <a:srgbClr val="F8D9D3"/>
          </a:solidFill>
          <a:ln>
            <a:solidFill>
              <a:srgbClr val="F8D9D3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45936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45936" y="36393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intent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345936" y="405079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take first steps, point, wave, and use simple words like 'mama' or 'dada'.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165592" y="3154680"/>
            <a:ext cx="3218688" cy="1993392"/>
          </a:xfrm>
          <a:prstGeom prst="roundRect">
            <a:avLst>
              <a:gd name="adj" fmla="val 6422"/>
            </a:avLst>
          </a:prstGeom>
          <a:solidFill>
            <a:srgbClr val="F6FBFD"/>
          </a:solidFill>
          <a:ln>
            <a:solidFill>
              <a:srgbClr val="F6FBFD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836676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families often notice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302752" y="3675888"/>
            <a:ext cx="27432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floor-play sessions with more curiosity.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frustration when a goal is blocked.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Clearer preferences for favorite people and routines.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58368" y="647395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vary within a normal range. Use patterns over time and talk with a pediatrician if you feel stuck or worried.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and hand skills are usually the headline changes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motor control and fine-motor precision often improve together from month to month.</a:t>
            </a:r>
            <a:endParaRPr lang="en-US" sz="1050" dirty="0"/>
          </a:p>
        </p:txBody>
      </p:sp>
      <p:pic>
        <p:nvPicPr>
          <p:cNvPr id="4" name="Image 0" descr="C:\Users\Oskar\Documents\AI_dev4\AI_devs4_solutions\baby_milestones_9_12_months\assets\motor_path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2016681"/>
            <a:ext cx="4160520" cy="35104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83480" y="1810512"/>
            <a:ext cx="2377440" cy="1609344"/>
          </a:xfrm>
          <a:prstGeom prst="roundRect">
            <a:avLst>
              <a:gd name="adj" fmla="val 7955"/>
            </a:avLst>
          </a:prstGeom>
          <a:solidFill>
            <a:srgbClr val="DDEDF7"/>
          </a:solidFill>
          <a:ln>
            <a:solidFill>
              <a:srgbClr val="DDEDF7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148072" y="1956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control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11496" y="2249424"/>
            <a:ext cx="20574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steadily and pivots during play.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 in and out of positions with less help.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98080" y="1810512"/>
            <a:ext cx="2377440" cy="1609344"/>
          </a:xfrm>
          <a:prstGeom prst="roundRect">
            <a:avLst>
              <a:gd name="adj" fmla="val 7955"/>
            </a:avLst>
          </a:prstGeom>
          <a:solidFill>
            <a:srgbClr val="F7E2D2"/>
          </a:solidFill>
          <a:ln>
            <a:solidFill>
              <a:srgbClr val="F7E2D2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62672" y="1956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skills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26096" y="2249424"/>
            <a:ext cx="20574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to stand at furniture.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Cruises along a couch or coffee table.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983480" y="3419856"/>
            <a:ext cx="2377440" cy="1609344"/>
          </a:xfrm>
          <a:prstGeom prst="roundRect">
            <a:avLst>
              <a:gd name="adj" fmla="val 7955"/>
            </a:avLst>
          </a:prstGeom>
          <a:solidFill>
            <a:srgbClr val="DCEFE6"/>
          </a:solidFill>
          <a:ln>
            <a:solidFill>
              <a:srgbClr val="DCEFE6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48072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at work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11496" y="3858768"/>
            <a:ext cx="20574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up tiny snacks with thumb and finger.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Bangs, drops, and transfers objects on purpose.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3419856"/>
            <a:ext cx="2377440" cy="1609344"/>
          </a:xfrm>
          <a:prstGeom prst="roundRect">
            <a:avLst>
              <a:gd name="adj" fmla="val 7955"/>
            </a:avLst>
          </a:prstGeom>
          <a:solidFill>
            <a:srgbClr val="FFF3E8"/>
          </a:solidFill>
          <a:ln>
            <a:solidFill>
              <a:srgbClr val="FFF3E8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662672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walking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626096" y="3858768"/>
            <a:ext cx="20574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babies take a few solo steps near 12 months.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wait longer and still follow a healthy path.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0" y="5376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 setup at home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10912" y="5742432"/>
            <a:ext cx="1234440" cy="347472"/>
          </a:xfrm>
          <a:prstGeom prst="roundRect">
            <a:avLst>
              <a:gd name="adj" fmla="val 47368"/>
            </a:avLst>
          </a:prstGeom>
          <a:solidFill>
            <a:srgbClr val="F2C46D"/>
          </a:solidFill>
          <a:ln>
            <a:solidFill>
              <a:srgbClr val="F2C46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Barefoot time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55080" y="5742432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DDEDF7"/>
          </a:solidFill>
          <a:ln>
            <a:solidFill>
              <a:srgbClr val="DDEDF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furniture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827264" y="5742432"/>
            <a:ext cx="1444752" cy="347472"/>
          </a:xfrm>
          <a:prstGeom prst="roundRect">
            <a:avLst>
              <a:gd name="adj" fmla="val 47368"/>
            </a:avLst>
          </a:prstGeom>
          <a:solidFill>
            <a:srgbClr val="DCEFE6"/>
          </a:solidFill>
          <a:ln>
            <a:solidFill>
              <a:srgbClr val="DCEFE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floor space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418320" y="5742432"/>
            <a:ext cx="1143000" cy="347472"/>
          </a:xfrm>
          <a:prstGeom prst="roundRect">
            <a:avLst>
              <a:gd name="adj" fmla="val 47368"/>
            </a:avLst>
          </a:prstGeom>
          <a:solidFill>
            <a:srgbClr val="F7E2D2"/>
          </a:solidFill>
          <a:ln>
            <a:solidFill>
              <a:srgbClr val="F7E2D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 foods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" y="647395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vary within a normal range. Use patterns over time and talk with a pediatrician if you feel stuck or worried.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and social play become more purposeful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stage often brings more imitation, shared attention, and clear attempts to communicate needs.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4663440" cy="4187952"/>
          </a:xfrm>
          <a:prstGeom prst="roundRect">
            <a:avLst>
              <a:gd name="adj" fmla="val 3057"/>
            </a:avLst>
          </a:prstGeom>
          <a:solidFill>
            <a:srgbClr val="FFFDF9"/>
          </a:solidFill>
          <a:ln>
            <a:solidFill>
              <a:srgbClr val="FFFDF9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6112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seen between 9 and 12 months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77824" y="2395728"/>
            <a:ext cx="40690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Responds to their name and turns toward familiar voices.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gestures such as waving, reaching, or lifting arms to be picked up.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where you point and enjoys back-and-forth games like peekaboo.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Babbles with speech-like rhythm and may start using 1 to 3 meaningful words.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4D6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object permanence by searching for a hidden toy.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5084064"/>
            <a:ext cx="1170432" cy="347472"/>
          </a:xfrm>
          <a:prstGeom prst="roundRect">
            <a:avLst>
              <a:gd name="adj" fmla="val 47368"/>
            </a:avLst>
          </a:prstGeom>
          <a:solidFill>
            <a:srgbClr val="DDEDF7"/>
          </a:solidFill>
          <a:ln>
            <a:solidFill>
              <a:srgbClr val="DDEDF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response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76272" y="5084064"/>
            <a:ext cx="932688" cy="347472"/>
          </a:xfrm>
          <a:prstGeom prst="roundRect">
            <a:avLst>
              <a:gd name="adj" fmla="val 47368"/>
            </a:avLst>
          </a:prstGeom>
          <a:solidFill>
            <a:srgbClr val="F7E2D2"/>
          </a:solidFill>
          <a:ln>
            <a:solidFill>
              <a:srgbClr val="F7E2D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18688" y="5084064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F2C46D"/>
          </a:solidFill>
          <a:ln>
            <a:solidFill>
              <a:srgbClr val="F2C46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Peekaboo</a:t>
            </a:r>
            <a:endParaRPr lang="en-US" sz="1000" dirty="0"/>
          </a:p>
        </p:txBody>
      </p:sp>
      <p:pic>
        <p:nvPicPr>
          <p:cNvPr id="10" name="Image 0" descr="C:\Users\Oskar\Documents\AI_dev4\AI_devs4_solutions\baby_milestones_9_12_months\assets\language_pla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0992" y="1714500"/>
            <a:ext cx="2788920" cy="2788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41080" y="1609344"/>
            <a:ext cx="2697480" cy="2148840"/>
          </a:xfrm>
          <a:prstGeom prst="roundRect">
            <a:avLst>
              <a:gd name="adj" fmla="val 5957"/>
            </a:avLst>
          </a:prstGeom>
          <a:solidFill>
            <a:srgbClr val="FFF0D9"/>
          </a:solidFill>
          <a:ln>
            <a:solidFill>
              <a:srgbClr val="FFF0D9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851392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sooner if you notice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805672" y="2359152"/>
            <a:ext cx="21031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94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interest in people or shared play.</a:t>
            </a:r>
            <a:endParaRPr lang="en-US" sz="940" dirty="0"/>
          </a:p>
          <a:p>
            <a:pPr marL="152400" indent="-152400">
              <a:buSzPct val="100000"/>
              <a:buChar char="•"/>
            </a:pPr>
            <a:r>
              <a:rPr lang="en-US" sz="94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babbling or no attempt to communicate.</a:t>
            </a:r>
            <a:endParaRPr lang="en-US" sz="940" dirty="0"/>
          </a:p>
          <a:p>
            <a:pPr marL="152400" indent="-152400">
              <a:buSzPct val="100000"/>
              <a:buChar char="•"/>
            </a:pPr>
            <a:r>
              <a:rPr lang="en-US" sz="94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limited movement progress or loss of a skill already gained.</a:t>
            </a:r>
            <a:endParaRPr lang="en-US" sz="940" dirty="0"/>
          </a:p>
        </p:txBody>
      </p:sp>
      <p:sp>
        <p:nvSpPr>
          <p:cNvPr id="14" name="Text 11"/>
          <p:cNvSpPr/>
          <p:nvPr/>
        </p:nvSpPr>
        <p:spPr>
          <a:xfrm>
            <a:off x="5532120" y="4773168"/>
            <a:ext cx="5806440" cy="1207008"/>
          </a:xfrm>
          <a:prstGeom prst="roundRect">
            <a:avLst>
              <a:gd name="adj" fmla="val 10606"/>
            </a:avLst>
          </a:prstGeom>
          <a:solidFill>
            <a:srgbClr val="F7EDE3"/>
          </a:solidFill>
          <a:ln>
            <a:solidFill>
              <a:srgbClr val="F7EDE3">
                <a:alpha val="0"/>
              </a:srgbClr>
            </a:solidFill>
          </a:ln>
          <a:effectLst>
            <a:outerShdw sx="100000" sy="100000" kx="0" ky="0" algn="bl" rotWithShape="0" blurRad="19050" dist="12700" dir="2700000">
              <a:srgbClr val="8A6E4B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42432" y="504748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support: talk during routines, read short books, offer safe objects to explore, and celebrate small attempts instead of chasing perfect timing.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" y="647395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vary within a normal range. Use patterns over time and talk with a pediatrician if you feel stuck or worried.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Baby Milestones: 9 to 12 Months</dc:title>
  <dc:subject>Baby milestones from 9 to 12 months</dc:subject>
  <dc:creator>OpenAI Codex</dc:creator>
  <cp:lastModifiedBy>OpenAI Codex</cp:lastModifiedBy>
  <cp:revision>1</cp:revision>
  <dcterms:created xsi:type="dcterms:W3CDTF">2026-03-11T20:35:30Z</dcterms:created>
  <dcterms:modified xsi:type="dcterms:W3CDTF">2026-03-11T20:35:30Z</dcterms:modified>
</cp:coreProperties>
</file>